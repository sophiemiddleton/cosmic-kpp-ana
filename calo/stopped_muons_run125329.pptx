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959e0d-04b5-ecfd-5702-480b0ec8a8d1}">
          <p14:sldIdLst>
            <p14:sldId id="256"/>
            <p14:sldId id="257"/>
          </p14:sldIdLst>
        </p14:section>
        <p14:section name="Diagnosis" id="{246720a9-bf0b-873d-b555-7fcbc0947de6}">
          <p14:sldIdLst>
            <p14:sldId id="258"/>
            <p14:sldId id="259"/>
            <p14:sldId id="260"/>
          </p14:sldIdLst>
        </p14:section>
        <p14:section name="Method" id="{aa6c18e1-5e4f-8f25-79bc-9f86be0d802b}">
          <p14:sldIdLst>
            <p14:sldId id="261"/>
            <p14:sldId id="262"/>
          </p14:sldIdLst>
        </p14:section>
        <p14:section name="Lifetime" id="{ba0374db-b0d4-89d4-86b3-da2bf05608d8}">
          <p14:sldIdLst>
            <p14:sldId id="263"/>
            <p14:sldId id="264"/>
          </p14:sldIdLst>
        </p14:section>
        <p14:section name="Michel spectrum" id="{73a155b4-df0a-0694-1630-5417945846e0}">
          <p14:sldIdLst>
            <p14:sldId id="265"/>
            <p14:sldId id="266"/>
          </p14:sldIdLst>
        </p14:section>
        <p14:section name="Conclusions" id="{1498a575-4bbe-900f-b646-23e362eb1fd1}">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(up − down) / (up + down) of the Michel position</a:t>
            </a:r>
          </a:p>
        </c:rich>
      </c:tx>
      <c:layout/>
      <c:overlay val="0"/>
    </c:title>
    <c:autoTitleDeleted val="0"/>
    <c:plotArea>
      <c:layout/>
      <c:barChart>
        <c:barDir val="col"/>
        <c:grouping val="clustered"/>
        <c:varyColors val="0"/>
        <c:ser>
          <c:idx val="0"/>
          <c:order val="0"/>
          <c:tx>
            <c:strRef>
              <c:f>Sheet1!$B$1</c:f>
              <c:strCache>
                <c:ptCount val="1"/>
                <c:pt idx="0">
                  <c:v>asymmetry</c:v>
                </c:pt>
              </c:strCache>
            </c:strRef>
          </c:tx>
          <c:spPr>
            <a:solidFill>
              <a:srgbClr val="C0392B"/>
            </a:solidFill>
            <a:effectLst/>
          </c:spPr>
          <c:invertIfNegative val="0"/>
          <c:dLbls>
            <c:numFmt formatCode="0.00" sourceLinked="0"/>
            <c:txPr>
              <a:bodyPr/>
              <a:lstStyle/>
              <a:p>
                <a:pPr>
                  <a:defRPr b="0" i="0" strike="noStrike" sz="1400" u="none">
                    <a:solidFill>
                      <a:srgbClr val="1F2A36"/>
                    </a:solidFill>
                    <a:latin typeface="+mn-lt"/>
                  </a:defRPr>
                </a:pPr>
              </a:p>
            </c:txPr>
            <c:showLegendKey val="0"/>
            <c:showVal val="1"/>
            <c:showCatName val="0"/>
            <c:showSerName val="0"/>
            <c:showPercent val="0"/>
            <c:showBubbleSize val="0"/>
            <c:showLeaderLines val="0"/>
          </c:dLbls>
          <c:cat>
            <c:multiLvlStrRef>
              <c:f>Sheet1!$A$2:$A$4</c:f>
              <c:multiLvlStrCache>
                <c:ptCount val="3"/>
                <c:lvl>
                  <c:pt idx="0">
                    <c:v>Reco clusters</c:v>
                  </c:pt>
                  <c:pt idx="1">
                    <c:v>Clusters merged in time</c:v>
                  </c:pt>
                  <c:pt idx="2">
                    <c:v>SiPM-corrected hit tracks</c:v>
                  </c:pt>
                </c:lvl>
              </c:multiLvlStrCache>
            </c:multiLvlStrRef>
          </c:cat>
          <c:val>
            <c:numRef>
              <c:f>Sheet1!$B$2:$B$4</c:f>
              <c:numCache>
                <c:formatCode>General</c:formatCode>
                <c:ptCount val="3"/>
                <c:pt idx="0">
                  <c:v>-0.62</c:v>
                </c:pt>
                <c:pt idx="1">
                  <c:v>-0.29</c:v>
                </c:pt>
                <c:pt idx="2">
                  <c:v>-0.04</c:v>
                </c:pt>
              </c:numCache>
            </c:numRef>
          </c:val>
        </c:ser>
        <c:dLbls>
          <c:numFmt formatCode="0.00" sourceLinked="0"/>
          <c:txPr>
            <a:bodyPr/>
            <a:lstStyle/>
            <a:p>
              <a:pPr>
                <a:defRPr b="0" i="0" strike="noStrike" sz="1400" u="none">
                  <a:solidFill>
                    <a:srgbClr val="1F2A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36"/>
                </a:solidFill>
                <a:latin typeface="+mn-lt"/>
              </a:defRPr>
            </a:pPr>
            <a:endParaRPr lang="en-US"/>
          </a:p>
        </c:txPr>
        <c:crossAx val="2094734552"/>
        <c:crosses val="autoZero"/>
        <c:auto val="1"/>
        <c:lblAlgn val="ctr"/>
        <c:noMultiLvlLbl val="1"/>
      </c:catAx>
      <c:valAx>
        <c:axId val="2094734552"/>
        <c:scaling>
          <c:orientation val="minMax"/>
          <c:max val="0.1"/>
          <c:min val="-0.8"/>
        </c:scaling>
        <c:delete val="0"/>
        <c:axPos val="l"/>
        <c:majorGridlines>
          <c:spPr>
            <a:ln w="9525" cap="flat">
              <a:solidFill>
                <a:srgbClr val="E3E3E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3"/>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Studies of cosmic muons that stop in the calorimeter disks, using run 125329 in the extracted position (no solenoid field). Everything is data-driven: there is no cosmic MC yet. Main topics: the muon lifetime, which was low in the first pass, and the Michel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take away. The lifetime now agrees with PDG. The Michel edge from hit groups is about 5 MeV higher and sharper than from clusters. And the 10 MeV cluster threshold loses 8% of the decays. The rest of the talk is how we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pass from the README, sections 2 and 3. The lifetime was 4% low and grew when the fit started later, which is the signature of a short-lived component. We interpreted it as mu-minus in light materials. The Michel spectrum from clusters had its edge at 38.8 MeV.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diagnostic. If the stop crystal is right, Michel deposits are symmetric around it. They were not: minus 0.62 overall and minus 0.69 in the purest selection. Merging same-time clusters halves it; correcting SiPM times and building tracks from hits removes it. The left-right control was zero in the first and final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time difference between a muon cluster and every other cluster on the same disk. The central peak is the same cosmic split into pieces. The side peaks at plus or minus 170 ns are the echo clusters from the SiPM time-calibration offsets. Right: the split pieces are mostly one to four crystals apart, so they are fragments of one track, not separate muons.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stop finder never uses reco clusters. Hit times are corrected with the per-SiPM offset table measured in section 1. Hits on the same disk with gaps under 30 ns form a track. The stop is the lowest end of the track, since cosmics go down. A track with another muon shortly before it nearby is rejected, which removes Michel electrons and leftover echoes as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Purity is the main limitation of a calorimeter-only stop. A muon that exits through the front or back face looks just like a stop. Last-crystal energy is the best handle: a Bragg peak in the last crystal means the muon really ended there. The purity matters for the charge ratio, but not for the lifetime, which only needs the Michel-tagged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stop-sample fit, starting at 1.5 microseconds to stay clear of the post-muon soft-hit burst and the echo region. Middle: if mu-minus in light material were pulling tau down, the low last-crystal-energy bins would sit low; they don't. Right: a second component would make tau rise with the fit start; it is flat within errors. The digitizer clock scale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different prompt definition. Without any purity cut the new method already gives 2.21 microseconds with no second component, so the low first-pass value was a reconstruction effect. Stops near the edge are about 2 sigma low, which could be real mu-minus capture in the outer support ring, but it is only 15% of the decays. Next step: rerun the old pair method adding fragments, echoes and Michel prompts back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hit groups instead of clusters lowers the threshold to about half an MeV. Each crystal counts once: the two single-SiPM hits of a split crystal each estimate the full crystal energy, and summing both had pushed the spectrum past the endpoint. The right panel gives the fraction of decays below a given threshold, which is useful for any cluster-based Michel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edge is low and broad because clusters miss energy: the clustering splits showers just as it splits muon tracks, and there is a 10 MeV threshold. Hit groups recover that energy. The fit-range dependence is about 0.9 MeV, larger than the statistical error. To turn this into an energy calibration we need cosmic MC through the same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clustering and SiPM-time issues affect any cosmic analysis that relies on reco clusters, so they are worth fixing upstream. The Michel edge is now a usable, self-consistent number, but it needs MC before it becomes a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3429000"/>
            <a:ext cx="11094415" cy="20116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Mu2e calorimeter · cosmic run 125329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Mu2e calorimeter · cosmic run 125329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1463040"/>
          </a:xfrm>
          <a:prstGeom prst="rect">
            <a:avLst/>
          </a:prstGeom>
          <a:noFill/>
          <a:ln/>
        </p:spPr>
        <p:txBody>
          <a:bodyPr wrap="square" lIns="0" tIns="0" rIns="0" bIns="0" rtlCol="0" anchor="b"/>
          <a:lstStyle/>
          <a:p>
            <a:pPr indent="0" marL="0">
              <a:buNone/>
            </a:pPr>
            <a:r>
              <a:rPr lang="en-US" sz="4000" b="1" dirty="0">
                <a:solidFill>
                  <a:schemeClr val="bg1"/>
                </a:solidFill>
              </a:rPr>
              <a:t>Stopped cosmic muons in the calorimeter</a:t>
            </a:r>
            <a:endParaRPr lang="en-US" sz="4000" dirty="0"/>
          </a:p>
        </p:txBody>
      </p:sp>
      <p:sp>
        <p:nvSpPr>
          <p:cNvPr id="3" name="Text 0"/>
          <p:cNvSpPr/>
          <p:nvPr>
            <p:ph idx="101" type="body" hasCustomPrompt="1"/>
          </p:nvPr>
        </p:nvSpPr>
        <p:spPr>
          <a:xfrm>
            <a:off x="548640" y="3429000"/>
            <a:ext cx="11094415" cy="2011680"/>
          </a:xfrm>
          <a:prstGeom prst="rect">
            <a:avLst/>
          </a:prstGeom>
          <a:noFill/>
          <a:ln/>
        </p:spPr>
        <p:txBody>
          <a:bodyPr wrap="square" lIns="0" tIns="0" rIns="0" bIns="0" rtlCol="0" anchor="t"/>
          <a:lstStyle/>
          <a:p>
            <a:pPr indent="0" marL="0">
              <a:buNone/>
            </a:pPr>
            <a:r>
              <a:rPr lang="en-US" sz="2000" dirty="0">
                <a:solidFill>
                  <a:schemeClr val="bg2"/>
                </a:solidFill>
              </a:rPr>
              <a:t>Muon lifetime and Michel spectrum, cosmic run 125329</a:t>
            </a:r>
            <a:endParaRPr lang="en-US" sz="2000" dirty="0"/>
          </a:p>
          <a:p>
            <a:pPr indent="0" marL="0">
              <a:buNone/>
            </a:pPr>
            <a:r>
              <a:rPr lang="en-US" sz="1600" dirty="0">
                <a:solidFill>
                  <a:schemeClr val="bg2"/>
                </a:solidFill>
              </a:rPr>
              <a:t>Extracted position, no field · calorimeter only, no MC · 10.3 M events, 10.8 h</a:t>
            </a:r>
            <a:endParaRPr lang="en-US" sz="2000" dirty="0"/>
          </a:p>
          <a:p>
            <a:pPr indent="0" marL="0">
              <a:buNone/>
            </a:pPr>
            <a:r>
              <a:rPr lang="en-US" sz="1200" dirty="0">
                <a:solidFill>
                  <a:schemeClr val="bg2"/>
                </a:solidFill>
              </a:rPr>
              <a:t> </a:t>
            </a:r>
            <a:endParaRPr lang="en-US" sz="2000" dirty="0"/>
          </a:p>
          <a:p>
            <a:pPr indent="0" marL="0">
              <a:buNone/>
            </a:pPr>
            <a:r>
              <a:rPr lang="en-US" sz="1600" dirty="0">
                <a:solidFill>
                  <a:schemeClr val="bg2"/>
                </a:solidFill>
              </a:rPr>
              <a:t>29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Summary</a:t>
            </a:r>
            <a:endParaRPr lang="en-US" sz="3600" dirty="0"/>
          </a:p>
        </p:txBody>
      </p:sp>
      <p:sp>
        <p:nvSpPr>
          <p:cNvPr id="3" name="stat card 1"/>
          <p:cNvSpPr/>
          <p:nvPr/>
        </p:nvSpPr>
        <p:spPr>
          <a:xfrm>
            <a:off x="548640" y="1371600"/>
            <a:ext cx="3454298" cy="219456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777240" y="1508760"/>
            <a:ext cx="2997098"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2.201 ± 0.015</a:t>
            </a:r>
            <a:endParaRPr lang="en-US" sz="3000" dirty="0"/>
          </a:p>
        </p:txBody>
      </p:sp>
      <p:sp>
        <p:nvSpPr>
          <p:cNvPr id="5" name="Text 3"/>
          <p:cNvSpPr txBox="1"/>
          <p:nvPr/>
        </p:nvSpPr>
        <p:spPr>
          <a:xfrm>
            <a:off x="777240" y="2423160"/>
            <a:ext cx="2997098" cy="640080"/>
          </a:xfrm>
          <a:prstGeom prst="rect">
            <a:avLst/>
          </a:prstGeom>
          <a:noFill/>
          <a:ln/>
        </p:spPr>
        <p:txBody>
          <a:bodyPr wrap="square" lIns="0" tIns="0" rIns="0" bIns="0" rtlCol="0" anchor="t"/>
          <a:lstStyle/>
          <a:p>
            <a:pPr indent="0" marL="0">
              <a:buNone/>
            </a:pPr>
            <a:r>
              <a:rPr lang="en-US" sz="1500" dirty="0">
                <a:solidFill>
                  <a:schemeClr val="tx1"/>
                </a:solidFill>
              </a:rPr>
              <a:t>µs: muon lifetime of the stop sample</a:t>
            </a:r>
            <a:endParaRPr lang="en-US" sz="1500" dirty="0"/>
          </a:p>
        </p:txBody>
      </p:sp>
      <p:sp>
        <p:nvSpPr>
          <p:cNvPr id="6" name="Text 4"/>
          <p:cNvSpPr txBox="1"/>
          <p:nvPr/>
        </p:nvSpPr>
        <p:spPr>
          <a:xfrm>
            <a:off x="777240" y="3108960"/>
            <a:ext cx="2997098" cy="365760"/>
          </a:xfrm>
          <a:prstGeom prst="rect">
            <a:avLst/>
          </a:prstGeom>
          <a:noFill/>
          <a:ln/>
        </p:spPr>
        <p:txBody>
          <a:bodyPr wrap="square" lIns="0" tIns="0" rIns="0" bIns="0" rtlCol="0" anchor="ctr"/>
          <a:lstStyle/>
          <a:p>
            <a:pPr indent="0" marL="0">
              <a:buNone/>
            </a:pPr>
            <a:r>
              <a:rPr lang="en-US" sz="1300" i="1" dirty="0">
                <a:solidFill>
                  <a:schemeClr val="tx2"/>
                </a:solidFill>
              </a:rPr>
              <a:t>PDG τ(µ⁺) = 2.197 µs</a:t>
            </a:r>
            <a:endParaRPr lang="en-US" sz="1300" dirty="0"/>
          </a:p>
        </p:txBody>
      </p:sp>
      <p:sp>
        <p:nvSpPr>
          <p:cNvPr id="7" name="stat card 2"/>
          <p:cNvSpPr/>
          <p:nvPr/>
        </p:nvSpPr>
        <p:spPr>
          <a:xfrm>
            <a:off x="4368698" y="1371600"/>
            <a:ext cx="3454298" cy="2194560"/>
          </a:xfrm>
          <a:prstGeom prst="roundRect">
            <a:avLst>
              <a:gd name="adj" fmla="val 3333"/>
            </a:avLst>
          </a:prstGeom>
          <a:solidFill>
            <a:schemeClr val="bg2"/>
          </a:solidFill>
          <a:ln w="12700">
            <a:solidFill>
              <a:schemeClr val="bg2"/>
            </a:solidFill>
            <a:prstDash val="solid"/>
          </a:ln>
        </p:spPr>
      </p:sp>
      <p:sp>
        <p:nvSpPr>
          <p:cNvPr id="8" name="Text 6"/>
          <p:cNvSpPr txBox="1"/>
          <p:nvPr/>
        </p:nvSpPr>
        <p:spPr>
          <a:xfrm>
            <a:off x="4597298" y="1508760"/>
            <a:ext cx="2997098"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44.2 ± 0.2</a:t>
            </a:r>
            <a:endParaRPr lang="en-US" sz="3000" dirty="0"/>
          </a:p>
        </p:txBody>
      </p:sp>
      <p:sp>
        <p:nvSpPr>
          <p:cNvPr id="9" name="Text 7"/>
          <p:cNvSpPr txBox="1"/>
          <p:nvPr/>
        </p:nvSpPr>
        <p:spPr>
          <a:xfrm>
            <a:off x="4597298" y="2423160"/>
            <a:ext cx="2997098" cy="640080"/>
          </a:xfrm>
          <a:prstGeom prst="rect">
            <a:avLst/>
          </a:prstGeom>
          <a:noFill/>
          <a:ln/>
        </p:spPr>
        <p:txBody>
          <a:bodyPr wrap="square" lIns="0" tIns="0" rIns="0" bIns="0" rtlCol="0" anchor="t"/>
          <a:lstStyle/>
          <a:p>
            <a:pPr indent="0" marL="0">
              <a:buNone/>
            </a:pPr>
            <a:r>
              <a:rPr lang="en-US" sz="1500" dirty="0">
                <a:solidFill>
                  <a:schemeClr val="tx1"/>
                </a:solidFill>
              </a:rPr>
              <a:t>MeV: Michel edge E₀ from hit groups</a:t>
            </a:r>
            <a:endParaRPr lang="en-US" sz="1500" dirty="0"/>
          </a:p>
        </p:txBody>
      </p:sp>
      <p:sp>
        <p:nvSpPr>
          <p:cNvPr id="10" name="Text 8"/>
          <p:cNvSpPr txBox="1"/>
          <p:nvPr/>
        </p:nvSpPr>
        <p:spPr>
          <a:xfrm>
            <a:off x="4597298" y="3108960"/>
            <a:ext cx="2997098" cy="365760"/>
          </a:xfrm>
          <a:prstGeom prst="rect">
            <a:avLst/>
          </a:prstGeom>
          <a:noFill/>
          <a:ln/>
        </p:spPr>
        <p:txBody>
          <a:bodyPr wrap="square" lIns="0" tIns="0" rIns="0" bIns="0" rtlCol="0" anchor="ctr"/>
          <a:lstStyle/>
          <a:p>
            <a:pPr indent="0" marL="0">
              <a:buNone/>
            </a:pPr>
            <a:r>
              <a:rPr lang="en-US" sz="1300" i="1" dirty="0">
                <a:solidFill>
                  <a:schemeClr val="tx2"/>
                </a:solidFill>
              </a:rPr>
              <a:t>38.8 MeV from reco clusters</a:t>
            </a:r>
            <a:endParaRPr lang="en-US" sz="1300" dirty="0"/>
          </a:p>
        </p:txBody>
      </p:sp>
      <p:sp>
        <p:nvSpPr>
          <p:cNvPr id="11" name="stat card 3"/>
          <p:cNvSpPr/>
          <p:nvPr/>
        </p:nvSpPr>
        <p:spPr>
          <a:xfrm>
            <a:off x="8188757" y="1371600"/>
            <a:ext cx="3454298" cy="2194560"/>
          </a:xfrm>
          <a:prstGeom prst="roundRect">
            <a:avLst>
              <a:gd name="adj" fmla="val 3333"/>
            </a:avLst>
          </a:prstGeom>
          <a:solidFill>
            <a:schemeClr val="bg2"/>
          </a:solidFill>
          <a:ln w="12700">
            <a:solidFill>
              <a:schemeClr val="bg2"/>
            </a:solidFill>
            <a:prstDash val="solid"/>
          </a:ln>
        </p:spPr>
      </p:sp>
      <p:sp>
        <p:nvSpPr>
          <p:cNvPr id="12" name="Text 10"/>
          <p:cNvSpPr txBox="1"/>
          <p:nvPr/>
        </p:nvSpPr>
        <p:spPr>
          <a:xfrm>
            <a:off x="8417357" y="1508760"/>
            <a:ext cx="2997098" cy="8686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8.4%</a:t>
            </a:r>
            <a:endParaRPr lang="en-US" sz="3000" dirty="0"/>
          </a:p>
        </p:txBody>
      </p:sp>
      <p:sp>
        <p:nvSpPr>
          <p:cNvPr id="13" name="Text 11"/>
          <p:cNvSpPr txBox="1"/>
          <p:nvPr/>
        </p:nvSpPr>
        <p:spPr>
          <a:xfrm>
            <a:off x="8417357" y="2423160"/>
            <a:ext cx="2997098" cy="640080"/>
          </a:xfrm>
          <a:prstGeom prst="rect">
            <a:avLst/>
          </a:prstGeom>
          <a:noFill/>
          <a:ln/>
        </p:spPr>
        <p:txBody>
          <a:bodyPr wrap="square" lIns="0" tIns="0" rIns="0" bIns="0" rtlCol="0" anchor="t"/>
          <a:lstStyle/>
          <a:p>
            <a:pPr indent="0" marL="0">
              <a:buNone/>
            </a:pPr>
            <a:r>
              <a:rPr lang="en-US" sz="1500" dirty="0">
                <a:solidFill>
                  <a:schemeClr val="tx1"/>
                </a:solidFill>
              </a:rPr>
              <a:t>of Michel decays deposit &lt; 10 MeV</a:t>
            </a:r>
            <a:endParaRPr lang="en-US" sz="1500" dirty="0"/>
          </a:p>
        </p:txBody>
      </p:sp>
      <p:sp>
        <p:nvSpPr>
          <p:cNvPr id="14" name="Text 12"/>
          <p:cNvSpPr txBox="1"/>
          <p:nvPr/>
        </p:nvSpPr>
        <p:spPr>
          <a:xfrm>
            <a:off x="8417357" y="3108960"/>
            <a:ext cx="2997098" cy="365760"/>
          </a:xfrm>
          <a:prstGeom prst="rect">
            <a:avLst/>
          </a:prstGeom>
          <a:noFill/>
          <a:ln/>
        </p:spPr>
        <p:txBody>
          <a:bodyPr wrap="square" lIns="0" tIns="0" rIns="0" bIns="0" rtlCol="0" anchor="ctr"/>
          <a:lstStyle/>
          <a:p>
            <a:pPr indent="0" marL="0">
              <a:buNone/>
            </a:pPr>
            <a:r>
              <a:rPr lang="en-US" sz="1300" i="1" dirty="0">
                <a:solidFill>
                  <a:schemeClr val="tx2"/>
                </a:solidFill>
              </a:rPr>
              <a:t>lost by the cluster threshold</a:t>
            </a:r>
            <a:endParaRPr lang="en-US" sz="1300" dirty="0"/>
          </a:p>
        </p:txBody>
      </p:sp>
      <p:sp>
        <p:nvSpPr>
          <p:cNvPr id="15" name="Text 13"/>
          <p:cNvSpPr txBox="1"/>
          <p:nvPr/>
        </p:nvSpPr>
        <p:spPr>
          <a:xfrm>
            <a:off x="548640" y="3977640"/>
            <a:ext cx="11094415"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first-pass τ = 2.117 µs and its 1.4 µs second component came from how the prompt muon was defined, not from physics</a:t>
            </a:r>
            <a:endParaRPr lang="en-US" sz="1500" dirty="0"/>
          </a:p>
          <a:p>
            <a:pPr marL="342900" indent="-342900">
              <a:spcAft>
                <a:spcPts val="600"/>
              </a:spcAft>
              <a:buSzPct val="100000"/>
              <a:buChar char="•"/>
            </a:pPr>
            <a:r>
              <a:rPr lang="en-US" sz="1500" dirty="0">
                <a:solidFill>
                  <a:schemeClr val="tx1"/>
                </a:solidFill>
              </a:rPr>
              <a:t>Reco clusters split one cosmic into several same-time pieces, and SiPM time offsets add echo clusters: tracks appear to end early</a:t>
            </a:r>
            <a:endParaRPr lang="en-US" sz="1500" dirty="0"/>
          </a:p>
          <a:p>
            <a:pPr marL="342900" indent="-342900">
              <a:spcAft>
                <a:spcPts val="600"/>
              </a:spcAft>
              <a:buSzPct val="100000"/>
              <a:buChar char="•"/>
            </a:pPr>
            <a:r>
              <a:rPr lang="en-US" sz="1500" dirty="0">
                <a:solidFill>
                  <a:schemeClr val="tx1"/>
                </a:solidFill>
              </a:rPr>
              <a:t>Tracks built from SiPM-corrected hits fix both, and the lifetime agrees with PDG. Hit groups that count each crystal once give a Michel spectrum ending at the 52.8 MeV endpoint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Where we started: cluster pairs</a:t>
            </a:r>
            <a:endParaRPr lang="en-US" sz="3600" dirty="0"/>
          </a:p>
        </p:txBody>
      </p:sp>
      <p:pic>
        <p:nvPicPr>
          <p:cNvPr id="3" name="First-pass lifetime fit" descr="First-pass lifetime fit">    </p:cNvPr>
          <p:cNvPicPr>
            <a:picLocks noChangeAspect="1"/>
          </p:cNvPicPr>
          <p:nvPr/>
        </p:nvPicPr>
        <p:blipFill>
          <a:blip r:embed="rId1"/>
          <a:stretch>
            <a:fillRect/>
          </a:stretch>
        </p:blipFill>
        <p:spPr>
          <a:xfrm>
            <a:off x="548640" y="1280160"/>
            <a:ext cx="5120640" cy="4292238"/>
          </a:xfrm>
          <a:prstGeom prst="rect">
            <a:avLst/>
          </a:prstGeom>
        </p:spPr>
      </p:pic>
      <p:pic>
        <p:nvPicPr>
          <p:cNvPr id="4" name="First-pass Michel spectrum" descr="First-pass Michel spectrum">    </p:cNvPr>
          <p:cNvPicPr>
            <a:picLocks noChangeAspect="1"/>
          </p:cNvPicPr>
          <p:nvPr/>
        </p:nvPicPr>
        <p:blipFill>
          <a:blip r:embed="rId2"/>
          <a:stretch>
            <a:fillRect/>
          </a:stretch>
        </p:blipFill>
        <p:spPr>
          <a:xfrm>
            <a:off x="6035040" y="1280160"/>
            <a:ext cx="5608015" cy="2311630"/>
          </a:xfrm>
          <a:prstGeom prst="rect">
            <a:avLst/>
          </a:prstGeom>
        </p:spPr>
      </p:pic>
      <p:sp>
        <p:nvSpPr>
          <p:cNvPr id="5" name="Text 1"/>
          <p:cNvSpPr txBox="1"/>
          <p:nvPr/>
        </p:nvSpPr>
        <p:spPr>
          <a:xfrm>
            <a:off x="6035040" y="3794760"/>
            <a:ext cx="5608015"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Prompt = any earlier cluster on the same disk within 80 mm; each delayed cluster paired with the closest one</a:t>
            </a:r>
            <a:endParaRPr lang="en-US" sz="1400" dirty="0"/>
          </a:p>
          <a:p>
            <a:pPr marL="342900" indent="-342900">
              <a:spcAft>
                <a:spcPts val="600"/>
              </a:spcAft>
              <a:buSzPct val="100000"/>
              <a:buChar char="•"/>
            </a:pPr>
            <a:r>
              <a:rPr lang="en-US" sz="1400" dirty="0">
                <a:solidFill>
                  <a:schemeClr val="tx1"/>
                </a:solidFill>
              </a:rPr>
              <a:t>τ = 2.117 ± 0.008 µs from 1.25 µs, rising to 2.148 ± 0.018 µs from 4 µs</a:t>
            </a:r>
            <a:endParaRPr lang="en-US" sz="1400" dirty="0"/>
          </a:p>
          <a:p>
            <a:pPr marL="342900" indent="-342900">
              <a:spcAft>
                <a:spcPts val="600"/>
              </a:spcAft>
              <a:buSzPct val="100000"/>
              <a:buChar char="•"/>
            </a:pPr>
            <a:r>
              <a:rPr lang="en-US" sz="1400" dirty="0">
                <a:solidFill>
                  <a:schemeClr val="tx1"/>
                </a:solidFill>
              </a:rPr>
              <a:t>Two-component fit: 9.5% with τ₂ = 1.44 ± 0.22 µs, read as µ⁻ stopping in light materials</a:t>
            </a:r>
            <a:endParaRPr lang="en-US" sz="1400" dirty="0"/>
          </a:p>
          <a:p>
            <a:pPr marL="342900" indent="-342900">
              <a:spcAft>
                <a:spcPts val="600"/>
              </a:spcAft>
              <a:buSzPct val="100000"/>
              <a:buChar char="•"/>
            </a:pPr>
            <a:r>
              <a:rPr lang="en-US" sz="1400" dirty="0">
                <a:solidFill>
                  <a:schemeClr val="tx1"/>
                </a:solidFill>
              </a:rPr>
              <a:t>Michel edge E₀ = 38.8 ± 0.2 MeV, σ = 6.2 MeV (clusters ≥ 10 MeV)</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Decay electrons sat ahead of the stop</a:t>
            </a:r>
            <a:endParaRPr lang="en-US" sz="3600" dirty="0"/>
          </a:p>
        </p:txBody>
      </p:sp>
      <p:graphicFrame>
        <p:nvGraphicFramePr>
          <p:cNvPr id="3" name="Up-down asymmetry by method" descr=""/>
          <p:cNvGraphicFramePr/>
          <p:nvPr/>
        </p:nvGraphicFramePr>
        <p:xfrm>
          <a:off x="548640" y="128016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49440" y="1371600"/>
            <a:ext cx="4693615" cy="3840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 muon at rest emits its positron isotropically: up and down should match to within the polarization effect (≲ 0.1)</a:t>
            </a:r>
            <a:endParaRPr lang="en-US" sz="1500" dirty="0"/>
          </a:p>
          <a:p>
            <a:pPr marL="342900" indent="-342900">
              <a:spcAft>
                <a:spcPts val="600"/>
              </a:spcAft>
              <a:buSzPct val="100000"/>
              <a:buChar char="•"/>
            </a:pPr>
            <a:r>
              <a:rPr lang="en-US" sz="1500" dirty="0">
                <a:solidFill>
                  <a:schemeClr val="tx1"/>
                </a:solidFill>
              </a:rPr>
              <a:t>With reco clusters, decay electrons were 4× more often below the "stop" than above it: the track went on below the crystal we called its end</a:t>
            </a:r>
            <a:endParaRPr lang="en-US" sz="1500" dirty="0"/>
          </a:p>
          <a:p>
            <a:pPr marL="342900" indent="-342900">
              <a:spcAft>
                <a:spcPts val="600"/>
              </a:spcAft>
              <a:buSzPct val="100000"/>
              <a:buChar char="•"/>
            </a:pPr>
            <a:r>
              <a:rPr lang="en-US" sz="1500" dirty="0">
                <a:solidFill>
                  <a:schemeClr val="tx1"/>
                </a:solidFill>
              </a:rPr>
              <a:t>The same in every decay-time bin and for single-crystal clusters, so not a channel-recovery effect</a:t>
            </a:r>
            <a:endParaRPr lang="en-US" sz="1500" dirty="0"/>
          </a:p>
        </p:txBody>
      </p:sp>
      <p:sp>
        <p:nvSpPr>
          <p:cNvPr id="5" name="Text 2"/>
          <p:cNvSpPr txBox="1"/>
          <p:nvPr/>
        </p:nvSpPr>
        <p:spPr>
          <a:xfrm>
            <a:off x="6949440" y="5349240"/>
            <a:ext cx="4693615" cy="548640"/>
          </a:xfrm>
          <a:prstGeom prst="rect">
            <a:avLst/>
          </a:prstGeom>
          <a:noFill/>
          <a:ln/>
        </p:spPr>
        <p:txBody>
          <a:bodyPr wrap="square" lIns="0" tIns="0" rIns="0" bIns="0" rtlCol="0" anchor="ctr"/>
          <a:lstStyle/>
          <a:p>
            <a:pPr indent="0" marL="0">
              <a:buNone/>
            </a:pPr>
            <a:r>
              <a:rPr lang="en-US" sz="1100" i="1" dirty="0">
                <a:solidFill>
                  <a:schemeClr val="tx2"/>
                </a:solidFill>
              </a:rPr>
              <a:t>All candidates; Michel groups &gt; 3 MeV within 80 mm, 1.5–9 µs, sideband-subtracted. Middle bar from a 400 k-event test sample.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Two ways a track ends early</a:t>
            </a:r>
            <a:endParaRPr lang="en-US" sz="3600" dirty="0"/>
          </a:p>
        </p:txBody>
      </p:sp>
      <p:pic>
        <p:nvPicPr>
          <p:cNvPr id="3" name="Cluster fragmentation" descr="Cluster fragmentation">    </p:cNvPr>
          <p:cNvPicPr>
            <a:picLocks noChangeAspect="1"/>
          </p:cNvPicPr>
          <p:nvPr/>
        </p:nvPicPr>
        <p:blipFill>
          <a:blip r:embed="rId1"/>
          <a:stretch>
            <a:fillRect/>
          </a:stretch>
        </p:blipFill>
        <p:spPr>
          <a:xfrm>
            <a:off x="868680" y="1188720"/>
            <a:ext cx="10454335" cy="3757849"/>
          </a:xfrm>
          <a:prstGeom prst="rect">
            <a:avLst/>
          </a:prstGeom>
        </p:spPr>
      </p:pic>
      <p:sp>
        <p:nvSpPr>
          <p:cNvPr id="4" name="Text 1"/>
          <p:cNvSpPr txBox="1"/>
          <p:nvPr/>
        </p:nvSpPr>
        <p:spPr>
          <a:xfrm>
            <a:off x="548640" y="5129449"/>
            <a:ext cx="5364328" cy="1134191"/>
          </a:xfrm>
          <a:prstGeom prst="rect">
            <a:avLst/>
          </a:prstGeom>
          <a:noFill/>
          <a:ln/>
        </p:spPr>
        <p:txBody>
          <a:bodyPr wrap="square" lIns="0" tIns="0" rIns="0" bIns="0" rtlCol="0" anchor="t"/>
          <a:lstStyle/>
          <a:p>
            <a:pPr indent="0" marL="0">
              <a:buNone/>
            </a:pPr>
            <a:r>
              <a:rPr lang="en-US" sz="1500" b="1" dirty="0">
                <a:solidFill>
                  <a:schemeClr val="accent1"/>
                </a:solidFill>
              </a:rPr>
              <a:t>Split clusters</a:t>
            </a:r>
            <a:endParaRPr lang="en-US" sz="1500" dirty="0"/>
          </a:p>
          <a:p>
            <a:pPr indent="0" marL="0">
              <a:buNone/>
            </a:pPr>
            <a:r>
              <a:rPr lang="en-US" sz="1500" dirty="0">
                <a:solidFill>
                  <a:schemeClr val="tx1"/>
                </a:solidFill>
              </a:rPr>
              <a:t>21% of clusters above 15 MeV have a same-disk partner within 30 ns, typically 1–4 crystals away. The upper piece looked like a stop.</a:t>
            </a:r>
            <a:endParaRPr lang="en-US" sz="1500" dirty="0"/>
          </a:p>
        </p:txBody>
      </p:sp>
      <p:sp>
        <p:nvSpPr>
          <p:cNvPr id="5" name="Text 2"/>
          <p:cNvSpPr txBox="1"/>
          <p:nvPr/>
        </p:nvSpPr>
        <p:spPr>
          <a:xfrm>
            <a:off x="6278728" y="5129449"/>
            <a:ext cx="5364328" cy="1134191"/>
          </a:xfrm>
          <a:prstGeom prst="rect">
            <a:avLst/>
          </a:prstGeom>
          <a:noFill/>
          <a:ln/>
        </p:spPr>
        <p:txBody>
          <a:bodyPr wrap="square" lIns="0" tIns="0" rIns="0" bIns="0" rtlCol="0" anchor="t"/>
          <a:lstStyle/>
          <a:p>
            <a:pPr indent="0" marL="0">
              <a:buNone/>
            </a:pPr>
            <a:r>
              <a:rPr lang="en-US" sz="1500" b="1" dirty="0">
                <a:solidFill>
                  <a:schemeClr val="accent1"/>
                </a:solidFill>
              </a:rPr>
              <a:t>SiPM time offsets</a:t>
            </a:r>
            <a:endParaRPr lang="en-US" sz="1500" dirty="0"/>
          </a:p>
          <a:p>
            <a:pPr indent="0" marL="0">
              <a:buNone/>
            </a:pPr>
            <a:r>
              <a:rPr lang="en-US" sz="1500" dirty="0">
                <a:solidFill>
                  <a:schemeClr val="tx1"/>
                </a:solidFill>
              </a:rPr>
              <a:t>The ±170 ns peaks are echo clusters from SiPMs shifted by k × 169 ns (283 crystals). A shifted crystal drops out of the track.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New stop finder: tracks from corrected hits</a:t>
            </a:r>
            <a:endParaRPr lang="en-US" sz="3600" dirty="0"/>
          </a:p>
        </p:txBody>
      </p:sp>
      <p:sp>
        <p:nvSpPr>
          <p:cNvPr id="3" name="step 1"/>
          <p:cNvSpPr/>
          <p:nvPr/>
        </p:nvSpPr>
        <p:spPr>
          <a:xfrm>
            <a:off x="548640" y="1463040"/>
            <a:ext cx="2567864" cy="3108960"/>
          </a:xfrm>
          <a:prstGeom prst="roundRect">
            <a:avLst>
              <a:gd name="adj" fmla="val 2849"/>
            </a:avLst>
          </a:prstGeom>
          <a:solidFill>
            <a:schemeClr val="bg2"/>
          </a:solidFill>
          <a:ln w="12700">
            <a:solidFill>
              <a:schemeClr val="bg2"/>
            </a:solidFill>
            <a:prstDash val="solid"/>
          </a:ln>
        </p:spPr>
      </p:sp>
      <p:sp>
        <p:nvSpPr>
          <p:cNvPr id="4" name="step 1 marker"/>
          <p:cNvSpPr/>
          <p:nvPr/>
        </p:nvSpPr>
        <p:spPr>
          <a:xfrm>
            <a:off x="822960" y="169164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82296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822960" y="2423160"/>
            <a:ext cx="2019224"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Correct hit times</a:t>
            </a:r>
            <a:endParaRPr lang="en-US" sz="1800" dirty="0"/>
          </a:p>
        </p:txBody>
      </p:sp>
      <p:sp>
        <p:nvSpPr>
          <p:cNvPr id="7" name="Text 5"/>
          <p:cNvSpPr txBox="1"/>
          <p:nvPr/>
        </p:nvSpPr>
        <p:spPr>
          <a:xfrm>
            <a:off x="822960" y="3154680"/>
            <a:ext cx="2019224" cy="1325880"/>
          </a:xfrm>
          <a:prstGeom prst="rect">
            <a:avLst/>
          </a:prstGeom>
          <a:noFill/>
          <a:ln/>
        </p:spPr>
        <p:txBody>
          <a:bodyPr wrap="square" lIns="0" tIns="0" rIns="0" bIns="0" rtlCol="0" anchor="t"/>
          <a:lstStyle/>
          <a:p>
            <a:pPr indent="0" marL="0">
              <a:buNone/>
            </a:pPr>
            <a:r>
              <a:rPr lang="en-US" sz="1400" dirty="0">
                <a:solidFill>
                  <a:schemeClr val="tx2"/>
                </a:solidFill>
              </a:rPr>
              <a:t>Per-SiPM offsets from sipm_abs_offsets.py, for single-SiPM and merged hits</a:t>
            </a:r>
            <a:endParaRPr lang="en-US" sz="1400" dirty="0"/>
          </a:p>
        </p:txBody>
      </p:sp>
      <p:sp>
        <p:nvSpPr>
          <p:cNvPr id="8" name="step 2"/>
          <p:cNvSpPr/>
          <p:nvPr/>
        </p:nvSpPr>
        <p:spPr>
          <a:xfrm>
            <a:off x="3390824" y="1463040"/>
            <a:ext cx="2567864" cy="3108960"/>
          </a:xfrm>
          <a:prstGeom prst="roundRect">
            <a:avLst>
              <a:gd name="adj" fmla="val 2849"/>
            </a:avLst>
          </a:prstGeom>
          <a:solidFill>
            <a:schemeClr val="bg2"/>
          </a:solidFill>
          <a:ln w="12700">
            <a:solidFill>
              <a:schemeClr val="bg2"/>
            </a:solidFill>
            <a:prstDash val="solid"/>
          </a:ln>
        </p:spPr>
      </p:sp>
      <p:sp>
        <p:nvSpPr>
          <p:cNvPr id="9" name="step 2 marker"/>
          <p:cNvSpPr/>
          <p:nvPr/>
        </p:nvSpPr>
        <p:spPr>
          <a:xfrm>
            <a:off x="3665144" y="169164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665144"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3665144" y="2423160"/>
            <a:ext cx="2019224"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Chain hits into tracks</a:t>
            </a:r>
            <a:endParaRPr lang="en-US" sz="1800" dirty="0"/>
          </a:p>
        </p:txBody>
      </p:sp>
      <p:sp>
        <p:nvSpPr>
          <p:cNvPr id="12" name="Text 10"/>
          <p:cNvSpPr txBox="1"/>
          <p:nvPr/>
        </p:nvSpPr>
        <p:spPr>
          <a:xfrm>
            <a:off x="3665144" y="3154680"/>
            <a:ext cx="2019224" cy="1325880"/>
          </a:xfrm>
          <a:prstGeom prst="rect">
            <a:avLst/>
          </a:prstGeom>
          <a:noFill/>
          <a:ln/>
        </p:spPr>
        <p:txBody>
          <a:bodyPr wrap="square" lIns="0" tIns="0" rIns="0" bIns="0" rtlCol="0" anchor="t"/>
          <a:lstStyle/>
          <a:p>
            <a:pPr indent="0" marL="0">
              <a:buNone/>
            </a:pPr>
            <a:r>
              <a:rPr lang="en-US" sz="1400" dirty="0">
                <a:solidFill>
                  <a:schemeClr val="tx2"/>
                </a:solidFill>
              </a:rPr>
              <a:t>Same disk, time gaps &lt; 30 ns; reco clusters are not used</a:t>
            </a:r>
            <a:endParaRPr lang="en-US" sz="1400" dirty="0"/>
          </a:p>
        </p:txBody>
      </p:sp>
      <p:sp>
        <p:nvSpPr>
          <p:cNvPr id="13" name="step 3"/>
          <p:cNvSpPr/>
          <p:nvPr/>
        </p:nvSpPr>
        <p:spPr>
          <a:xfrm>
            <a:off x="6233008" y="1463040"/>
            <a:ext cx="2567864" cy="3108960"/>
          </a:xfrm>
          <a:prstGeom prst="roundRect">
            <a:avLst>
              <a:gd name="adj" fmla="val 2849"/>
            </a:avLst>
          </a:prstGeom>
          <a:solidFill>
            <a:schemeClr val="bg2"/>
          </a:solidFill>
          <a:ln w="12700">
            <a:solidFill>
              <a:schemeClr val="bg2"/>
            </a:solidFill>
            <a:prstDash val="solid"/>
          </a:ln>
        </p:spPr>
      </p:sp>
      <p:sp>
        <p:nvSpPr>
          <p:cNvPr id="14" name="step 3 marker"/>
          <p:cNvSpPr/>
          <p:nvPr/>
        </p:nvSpPr>
        <p:spPr>
          <a:xfrm>
            <a:off x="6507328" y="169164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6507328"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6507328" y="2423160"/>
            <a:ext cx="2019224"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Pick the stop</a:t>
            </a:r>
            <a:endParaRPr lang="en-US" sz="1800" dirty="0"/>
          </a:p>
        </p:txBody>
      </p:sp>
      <p:sp>
        <p:nvSpPr>
          <p:cNvPr id="17" name="Text 15"/>
          <p:cNvSpPr txBox="1"/>
          <p:nvPr/>
        </p:nvSpPr>
        <p:spPr>
          <a:xfrm>
            <a:off x="6507328" y="3154680"/>
            <a:ext cx="2019224" cy="1325880"/>
          </a:xfrm>
          <a:prstGeom prst="rect">
            <a:avLst/>
          </a:prstGeom>
          <a:noFill/>
          <a:ln/>
        </p:spPr>
        <p:txBody>
          <a:bodyPr wrap="square" lIns="0" tIns="0" rIns="0" bIns="0" rtlCol="0" anchor="t"/>
          <a:lstStyle/>
          <a:p>
            <a:pPr indent="0" marL="0">
              <a:buNone/>
            </a:pPr>
            <a:r>
              <a:rPr lang="en-US" sz="1400" dirty="0">
                <a:solidFill>
                  <a:schemeClr val="tx2"/>
                </a:solidFill>
              </a:rPr>
              <a:t>Lowest end of the energy-weighted track axis; reject if an earlier muon is within 25 µs and 150 mm</a:t>
            </a:r>
            <a:endParaRPr lang="en-US" sz="1400" dirty="0"/>
          </a:p>
        </p:txBody>
      </p:sp>
      <p:sp>
        <p:nvSpPr>
          <p:cNvPr id="18" name="step 4"/>
          <p:cNvSpPr/>
          <p:nvPr/>
        </p:nvSpPr>
        <p:spPr>
          <a:xfrm>
            <a:off x="9075191" y="1463040"/>
            <a:ext cx="2567864" cy="3108960"/>
          </a:xfrm>
          <a:prstGeom prst="roundRect">
            <a:avLst>
              <a:gd name="adj" fmla="val 2849"/>
            </a:avLst>
          </a:prstGeom>
          <a:solidFill>
            <a:schemeClr val="bg2"/>
          </a:solidFill>
          <a:ln w="12700">
            <a:solidFill>
              <a:schemeClr val="bg2"/>
            </a:solidFill>
            <a:prstDash val="solid"/>
          </a:ln>
        </p:spPr>
      </p:sp>
      <p:sp>
        <p:nvSpPr>
          <p:cNvPr id="19" name="step 4 marker"/>
          <p:cNvSpPr/>
          <p:nvPr/>
        </p:nvSpPr>
        <p:spPr>
          <a:xfrm>
            <a:off x="9349511" y="169164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9349511"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9349511" y="2423160"/>
            <a:ext cx="2019224"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Collect delayed hits</a:t>
            </a:r>
            <a:endParaRPr lang="en-US" sz="1800" dirty="0"/>
          </a:p>
        </p:txBody>
      </p:sp>
      <p:sp>
        <p:nvSpPr>
          <p:cNvPr id="22" name="Text 20"/>
          <p:cNvSpPr txBox="1"/>
          <p:nvPr/>
        </p:nvSpPr>
        <p:spPr>
          <a:xfrm>
            <a:off x="9349511" y="3154680"/>
            <a:ext cx="2019224" cy="1325880"/>
          </a:xfrm>
          <a:prstGeom prst="rect">
            <a:avLst/>
          </a:prstGeom>
          <a:noFill/>
          <a:ln/>
        </p:spPr>
        <p:txBody>
          <a:bodyPr wrap="square" lIns="0" tIns="0" rIns="0" bIns="0" rtlCol="0" anchor="t"/>
          <a:lstStyle/>
          <a:p>
            <a:pPr indent="0" marL="0">
              <a:buNone/>
            </a:pPr>
            <a:r>
              <a:rPr lang="en-US" sz="1400" dirty="0">
                <a:solidFill>
                  <a:schemeClr val="tx2"/>
                </a:solidFill>
              </a:rPr>
              <a:t>Within 150 mm, −20 to +60 µs, grouped in time; a split crystal counts once</a:t>
            </a:r>
            <a:endParaRPr lang="en-US" sz="1400" dirty="0"/>
          </a:p>
        </p:txBody>
      </p:sp>
      <p:sp>
        <p:nvSpPr>
          <p:cNvPr id="23" name="Text 21"/>
          <p:cNvSpPr txBox="1"/>
          <p:nvPr/>
        </p:nvSpPr>
        <p:spPr>
          <a:xfrm>
            <a:off x="548640" y="4937760"/>
            <a:ext cx="11094415" cy="548640"/>
          </a:xfrm>
          <a:prstGeom prst="rect">
            <a:avLst/>
          </a:prstGeom>
          <a:noFill/>
          <a:ln/>
        </p:spPr>
        <p:txBody>
          <a:bodyPr wrap="square" lIns="0" tIns="0" rIns="0" bIns="0" rtlCol="0" anchor="ctr"/>
          <a:lstStyle/>
          <a:p>
            <a:pPr indent="0" marL="0">
              <a:buNone/>
            </a:pPr>
            <a:r>
              <a:rPr lang="en-US" sz="1600" b="1" dirty="0">
                <a:solidFill>
                  <a:schemeClr val="tx1"/>
                </a:solidFill>
              </a:rPr>
              <a:t>6.53 M muon candidates</a:t>
            </a:r>
            <a:pPr indent="0" marL="0">
              <a:buNone/>
            </a:pPr>
            <a:r>
              <a:rPr lang="en-US" sz="1600" dirty="0">
                <a:solidFill>
                  <a:schemeClr val="tx1"/>
                </a:solidFill>
              </a:rPr>
              <a:t>   ·   stop sample (last-crystal energy 25–70 MeV, ≥ 40 mm of disk ahead): </a:t>
            </a:r>
            <a:pPr indent="0" marL="0">
              <a:buNone/>
            </a:pPr>
            <a:r>
              <a:rPr lang="en-US" sz="1600" b="1" dirty="0">
                <a:solidFill>
                  <a:schemeClr val="tx1"/>
                </a:solidFill>
              </a:rPr>
              <a:t>662 k</a:t>
            </a:r>
            <a:endParaRPr lang="en-US" sz="1600" dirty="0"/>
          </a:p>
        </p:txBody>
      </p:sp>
      <p:sp>
        <p:nvSpPr>
          <p:cNvPr id="24" name="Text 22"/>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200" i="1" dirty="0">
                <a:solidFill>
                  <a:schemeClr val="tx2"/>
                </a:solidFill>
              </a:rPr>
              <a:t>fill_stops.py: about 2 min for the run on 4 cores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Most track ends are not stops</a:t>
            </a:r>
            <a:endParaRPr lang="en-US" sz="3600" dirty="0"/>
          </a:p>
        </p:txBody>
      </p:sp>
      <p:pic>
        <p:nvPicPr>
          <p:cNvPr id="3" name="Stop selection" descr="Stop selection">    </p:cNvPr>
          <p:cNvPicPr>
            <a:picLocks noChangeAspect="1"/>
          </p:cNvPicPr>
          <p:nvPr/>
        </p:nvPicPr>
        <p:blipFill>
          <a:blip r:embed="rId1"/>
          <a:stretch>
            <a:fillRect/>
          </a:stretch>
        </p:blipFill>
        <p:spPr>
          <a:xfrm>
            <a:off x="548640" y="1188720"/>
            <a:ext cx="11094415" cy="3185304"/>
          </a:xfrm>
          <a:prstGeom prst="rect">
            <a:avLst/>
          </a:prstGeom>
        </p:spPr>
      </p:pic>
      <p:sp>
        <p:nvSpPr>
          <p:cNvPr id="4" name="Text 1"/>
          <p:cNvSpPr txBox="1"/>
          <p:nvPr/>
        </p:nvSpPr>
        <p:spPr>
          <a:xfrm>
            <a:off x="548640" y="4648344"/>
            <a:ext cx="11094415" cy="16152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calorimeter can't see a muon leave through a disk face: the Michel rate per candidate is 0.4% at low last-crystal energy and 7–8% at the Bragg peak (40–50 MeV) with ≥ 80 mm of disk ahead</a:t>
            </a:r>
            <a:endParaRPr lang="en-US" sz="1400" dirty="0"/>
          </a:p>
          <a:p>
            <a:pPr marL="342900" indent="-342900">
              <a:spcAft>
                <a:spcPts val="600"/>
              </a:spcAft>
              <a:buSzPct val="100000"/>
              <a:buChar char="•"/>
            </a:pPr>
            <a:r>
              <a:rPr lang="en-US" sz="1400" dirty="0">
                <a:solidFill>
                  <a:schemeClr val="tx1"/>
                </a:solidFill>
              </a:rPr>
              <a:t>Stop sample: 3.7% Michel per candidate, so roughly 14% real stops (window efficiency 0.49, f(µ⁺) ≈ 0.55)</a:t>
            </a:r>
            <a:endParaRPr lang="en-US" sz="1400" dirty="0"/>
          </a:p>
          <a:p>
            <a:pPr marL="342900" indent="-342900">
              <a:spcAft>
                <a:spcPts val="600"/>
              </a:spcAft>
              <a:buSzPct val="100000"/>
              <a:buChar char="•"/>
            </a:pPr>
            <a:r>
              <a:rPr lang="en-US" sz="1400" dirty="0">
                <a:solidFill>
                  <a:schemeClr val="tx1"/>
                </a:solidFill>
              </a:rPr>
              <a:t>Right: the Michel position still shifts with last-crystal energy; the stop is known only to about one crystal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Lifetime agrees with PDG</a:t>
            </a:r>
            <a:endParaRPr lang="en-US" sz="3600" dirty="0"/>
          </a:p>
        </p:txBody>
      </p:sp>
      <p:pic>
        <p:nvPicPr>
          <p:cNvPr id="3" name="Stop-sample lifetime" descr="Stop-sample lifetime">    </p:cNvPr>
          <p:cNvPicPr>
            <a:picLocks noChangeAspect="1"/>
          </p:cNvPicPr>
          <p:nvPr/>
        </p:nvPicPr>
        <p:blipFill>
          <a:blip r:embed="rId1"/>
          <a:stretch>
            <a:fillRect/>
          </a:stretch>
        </p:blipFill>
        <p:spPr>
          <a:xfrm>
            <a:off x="548640" y="1188720"/>
            <a:ext cx="11094415" cy="3056313"/>
          </a:xfrm>
          <a:prstGeom prst="rect">
            <a:avLst/>
          </a:prstGeom>
        </p:spPr>
      </p:pic>
      <p:sp>
        <p:nvSpPr>
          <p:cNvPr id="4" name="Text 1"/>
          <p:cNvSpPr txBox="1"/>
          <p:nvPr/>
        </p:nvSpPr>
        <p:spPr>
          <a:xfrm>
            <a:off x="548640" y="4519353"/>
            <a:ext cx="3515258" cy="1371600"/>
          </a:xfrm>
          <a:prstGeom prst="rect">
            <a:avLst/>
          </a:prstGeom>
          <a:noFill/>
          <a:ln/>
        </p:spPr>
        <p:txBody>
          <a:bodyPr wrap="square" lIns="0" tIns="0" rIns="0" bIns="0" rtlCol="0" anchor="t"/>
          <a:lstStyle/>
          <a:p>
            <a:pPr indent="0" marL="0">
              <a:buNone/>
            </a:pPr>
            <a:r>
              <a:rPr lang="en-US" sz="1400" b="1" dirty="0">
                <a:solidFill>
                  <a:schemeClr val="accent1"/>
                </a:solidFill>
              </a:rPr>
              <a:t>Fit 1.5–20 µs</a:t>
            </a:r>
            <a:endParaRPr lang="en-US" sz="1400" dirty="0"/>
          </a:p>
          <a:p>
            <a:pPr indent="0" marL="0">
              <a:buNone/>
            </a:pPr>
            <a:r>
              <a:rPr lang="en-US" sz="1400" dirty="0">
                <a:solidFill>
                  <a:schemeClr val="tx1"/>
                </a:solidFill>
              </a:rPr>
              <a:t>Michel groups 10–60 MeV within 80 mm: τ = 2.201 ± 0.015 µs, χ²/ndf = 66/66</a:t>
            </a:r>
            <a:endParaRPr lang="en-US" sz="1400" dirty="0"/>
          </a:p>
        </p:txBody>
      </p:sp>
      <p:sp>
        <p:nvSpPr>
          <p:cNvPr id="5" name="Text 2"/>
          <p:cNvSpPr txBox="1"/>
          <p:nvPr/>
        </p:nvSpPr>
        <p:spPr>
          <a:xfrm>
            <a:off x="4338218" y="4519353"/>
            <a:ext cx="3515258" cy="1371600"/>
          </a:xfrm>
          <a:prstGeom prst="rect">
            <a:avLst/>
          </a:prstGeom>
          <a:noFill/>
          <a:ln/>
        </p:spPr>
        <p:txBody>
          <a:bodyPr wrap="square" lIns="0" tIns="0" rIns="0" bIns="0" rtlCol="0" anchor="t"/>
          <a:lstStyle/>
          <a:p>
            <a:pPr indent="0" marL="0">
              <a:buNone/>
            </a:pPr>
            <a:r>
              <a:rPr lang="en-US" sz="1400" b="1" dirty="0">
                <a:solidFill>
                  <a:schemeClr val="accent1"/>
                </a:solidFill>
              </a:rPr>
              <a:t>By last-crystal energy</a:t>
            </a:r>
            <a:endParaRPr lang="en-US" sz="1400" dirty="0"/>
          </a:p>
          <a:p>
            <a:pPr indent="0" marL="0">
              <a:buNone/>
            </a:pPr>
            <a:r>
              <a:rPr lang="en-US" sz="1400" dirty="0">
                <a:solidFill>
                  <a:schemeClr val="tx1"/>
                </a:solidFill>
              </a:rPr>
              <a:t>Split by the stop-purity proxy: no trend, all within about 1σ of 2.197 µs</a:t>
            </a:r>
            <a:endParaRPr lang="en-US" sz="1400" dirty="0"/>
          </a:p>
        </p:txBody>
      </p:sp>
      <p:sp>
        <p:nvSpPr>
          <p:cNvPr id="6" name="Text 3"/>
          <p:cNvSpPr txBox="1"/>
          <p:nvPr/>
        </p:nvSpPr>
        <p:spPr>
          <a:xfrm>
            <a:off x="8127797" y="4519353"/>
            <a:ext cx="3515258" cy="1371600"/>
          </a:xfrm>
          <a:prstGeom prst="rect">
            <a:avLst/>
          </a:prstGeom>
          <a:noFill/>
          <a:ln/>
        </p:spPr>
        <p:txBody>
          <a:bodyPr wrap="square" lIns="0" tIns="0" rIns="0" bIns="0" rtlCol="0" anchor="t"/>
          <a:lstStyle/>
          <a:p>
            <a:pPr indent="0" marL="0">
              <a:buNone/>
            </a:pPr>
            <a:r>
              <a:rPr lang="en-US" sz="1400" b="1" dirty="0">
                <a:solidFill>
                  <a:schemeClr val="accent1"/>
                </a:solidFill>
              </a:rPr>
              <a:t>By fit start</a:t>
            </a:r>
            <a:endParaRPr lang="en-US" sz="1400" dirty="0"/>
          </a:p>
          <a:p>
            <a:pPr indent="0" marL="0">
              <a:buNone/>
            </a:pPr>
            <a:r>
              <a:rPr lang="en-US" sz="1400" dirty="0">
                <a:solidFill>
                  <a:schemeClr val="tx1"/>
                </a:solidFill>
              </a:rPr>
              <a:t>Flat within errors (points share data), so no short-lived second component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It was the method, not the sample</a:t>
            </a:r>
            <a:endParaRPr lang="en-US" sz="3600" dirty="0"/>
          </a:p>
        </p:txBody>
      </p:sp>
      <p:graphicFrame>
        <p:nvGraphicFramePr>
          <p:cNvPr id="10" name="Lifetime comparison"/>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3200400"/>
                <a:gridCol w="1828800"/>
                <a:gridCol w="1737360"/>
              </a:tblGrid>
              <a:tr h="502920">
                <a:tc>
                  <a:txBody>
                    <a:bodyPr/>
                    <a:lstStyle/>
                    <a:p>
                      <a:pPr indent="0" marL="0">
                        <a:buNone/>
                      </a:pPr>
                      <a:r>
                        <a:rPr lang="en-US" sz="1500" b="1" dirty="0">
                          <a:solidFill>
                            <a:schemeClr val="bg1"/>
                          </a:solidFill>
                        </a:rPr>
                        <a:t>Sample</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τ from 1.25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2nd component</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r>
              <a:tr h="502920">
                <a:tc>
                  <a:txBody>
                    <a:bodyPr/>
                    <a:lstStyle/>
                    <a:p>
                      <a:pPr indent="0" marL="0">
                        <a:buNone/>
                      </a:pPr>
                      <a:r>
                        <a:rPr lang="en-US" sz="1500" dirty="0">
                          <a:solidFill>
                            <a:schemeClr val="tx1"/>
                          </a:solidFill>
                        </a:rPr>
                        <a:t>Cluster pairs (first pass)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2.117 ± 0.008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9.5%, τ₂ = 1.44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New: all candidates, no purity cut</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2.209 ± 0.011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none</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New: stop sample</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2.218 ± 0.015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none</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New: stops &lt; 40 mm from the disk edge</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2.12 ± 0.04 µs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not significant</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4" name="Text 1"/>
          <p:cNvSpPr txBox="1"/>
          <p:nvPr/>
        </p:nvSpPr>
        <p:spPr>
          <a:xfrm>
            <a:off x="7772400" y="1371600"/>
            <a:ext cx="3870655" cy="4480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Even with no purity cut the new method gives the PDG value, so the purity cuts are not hiding anything</a:t>
            </a:r>
            <a:endParaRPr lang="en-US" sz="1500" dirty="0"/>
          </a:p>
          <a:p>
            <a:pPr marL="342900" indent="-342900">
              <a:spcAft>
                <a:spcPts val="600"/>
              </a:spcAft>
              <a:buSzPct val="100000"/>
              <a:buChar char="•"/>
            </a:pPr>
            <a:r>
              <a:rPr lang="en-US" sz="1500" dirty="0">
                <a:solidFill>
                  <a:schemeClr val="tx1"/>
                </a:solidFill>
              </a:rPr>
              <a:t>The bias sits in the first-pass prompt definition (fragments, echoes, Michels as prompts); which of these produced the 1.4 µs component is not yet isolated</a:t>
            </a:r>
            <a:endParaRPr lang="en-US" sz="1500" dirty="0"/>
          </a:p>
          <a:p>
            <a:pPr marL="342900" indent="-342900">
              <a:spcAft>
                <a:spcPts val="600"/>
              </a:spcAft>
              <a:buSzPct val="100000"/>
              <a:buChar char="•"/>
            </a:pPr>
            <a:r>
              <a:rPr lang="en-US" sz="1500" dirty="0">
                <a:solidFill>
                  <a:schemeClr val="tx1"/>
                </a:solidFill>
              </a:rPr>
              <a:t>Stops near the disk edge are 2σ low: possibly µ⁻ in the outer support, still open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Michel spectrum from hit groups</a:t>
            </a:r>
            <a:endParaRPr lang="en-US" sz="3600" dirty="0"/>
          </a:p>
        </p:txBody>
      </p:sp>
      <p:pic>
        <p:nvPicPr>
          <p:cNvPr id="3" name="Michel spectrum from hit groups" descr="Michel spectrum from hit groups">    </p:cNvPr>
          <p:cNvPicPr>
            <a:picLocks noChangeAspect="1"/>
          </p:cNvPicPr>
          <p:nvPr/>
        </p:nvPicPr>
        <p:blipFill>
          <a:blip r:embed="rId1"/>
          <a:stretch>
            <a:fillRect/>
          </a:stretch>
        </p:blipFill>
        <p:spPr>
          <a:xfrm>
            <a:off x="868680" y="1188720"/>
            <a:ext cx="10454335" cy="3916948"/>
          </a:xfrm>
          <a:prstGeom prst="rect">
            <a:avLst/>
          </a:prstGeom>
        </p:spPr>
      </p:pic>
      <p:sp>
        <p:nvSpPr>
          <p:cNvPr id="4" name="Text 1"/>
          <p:cNvSpPr txBox="1"/>
          <p:nvPr/>
        </p:nvSpPr>
        <p:spPr>
          <a:xfrm>
            <a:off x="548640" y="5288548"/>
            <a:ext cx="11094415" cy="97509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Hit groups sum all hits within 150 mm and 30 ns, down to 0.5 MeV, with each crystal counted once; background from the 15–22.5 µs sideband</a:t>
            </a:r>
            <a:endParaRPr lang="en-US" sz="1400" dirty="0"/>
          </a:p>
          <a:p>
            <a:pPr marL="342900" indent="-342900">
              <a:spcAft>
                <a:spcPts val="600"/>
              </a:spcAft>
              <a:buSzPct val="100000"/>
              <a:buChar char="•"/>
            </a:pPr>
            <a:r>
              <a:rPr lang="en-US" sz="1400" dirty="0">
                <a:solidFill>
                  <a:schemeClr val="tx1"/>
                </a:solidFill>
              </a:rPr>
              <a:t>The spectrum ends at the 52.8 MeV endpoint; 8.4% of decays fall below the 10 MeV cluster threshold, 0.3% below 3 MeV</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Michel edge: clusters vs hit groups</a:t>
            </a:r>
            <a:endParaRPr lang="en-US" sz="3600" dirty="0"/>
          </a:p>
        </p:txBody>
      </p:sp>
      <p:graphicFrame>
        <p:nvGraphicFramePr>
          <p:cNvPr id="12" name="Michel edge comparison"/>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0"/>
                <a:gridCol w="1463040"/>
                <a:gridCol w="2057400"/>
                <a:gridCol w="2084832"/>
              </a:tblGrid>
              <a:tr h="502920">
                <a:tc>
                  <a:txBody>
                    <a:bodyPr/>
                    <a:lstStyle/>
                    <a:p>
                      <a:pPr indent="0" marL="0">
                        <a:buNone/>
                      </a:pPr>
                      <a:r>
                        <a:rPr lang="en-US" sz="1500" b="1" dirty="0">
                          <a:solidFill>
                            <a:schemeClr val="bg1"/>
                          </a:solidFill>
                        </a:rPr>
                        <a:t>Method</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Decays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E₀ [MeV]</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σ [MeV]</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1"/>
                    </a:solidFill>
                  </a:tcPr>
                </a:tc>
              </a:tr>
              <a:tr h="502920">
                <a:tc>
                  <a:txBody>
                    <a:bodyPr/>
                    <a:lstStyle/>
                    <a:p>
                      <a:pPr indent="0" marL="0">
                        <a:buNone/>
                      </a:pPr>
                      <a:r>
                        <a:rPr lang="en-US" sz="1500" dirty="0">
                          <a:solidFill>
                            <a:schemeClr val="tx1"/>
                          </a:solidFill>
                        </a:rPr>
                        <a:t>Reco clusters ≥ 10 MeV, ΔR &lt; 80 mm (first pass)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90 k</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38.80 ± 0.23</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6.18 ± 0.13</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22/10/26 slides</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42.80 ± 0.12</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5.13 ± 0.10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Hit groups, stop sample, fit 30–52 MeV</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26.9 k</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44.16 ± 0.16</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4.28 ± 0.13</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chemeClr val="tx1"/>
                          </a:solidFill>
                        </a:rPr>
                        <a:t>Hit groups, stop sample, fit 35–55 MeV</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26.9 k</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45.04 ± 0.16</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chemeClr val="tx1"/>
                          </a:solidFill>
                        </a:rPr>
                        <a:t>3.50 ± 0.10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4" name="edge interpretation"/>
          <p:cNvSpPr/>
          <p:nvPr/>
        </p:nvSpPr>
        <p:spPr>
          <a:xfrm>
            <a:off x="548640" y="4206240"/>
            <a:ext cx="5364328" cy="1874520"/>
          </a:xfrm>
          <a:prstGeom prst="roundRect">
            <a:avLst>
              <a:gd name="adj" fmla="val 3902"/>
            </a:avLst>
          </a:prstGeom>
          <a:solidFill>
            <a:schemeClr val="bg2"/>
          </a:solidFill>
          <a:ln w="12700">
            <a:solidFill>
              <a:schemeClr val="bg2"/>
            </a:solidFill>
            <a:prstDash val="solid"/>
          </a:ln>
        </p:spPr>
      </p:sp>
      <p:sp>
        <p:nvSpPr>
          <p:cNvPr id="5" name="Text 2"/>
          <p:cNvSpPr txBox="1"/>
          <p:nvPr/>
        </p:nvSpPr>
        <p:spPr>
          <a:xfrm>
            <a:off x="822960" y="4389120"/>
            <a:ext cx="4815688" cy="1554480"/>
          </a:xfrm>
          <a:prstGeom prst="rect">
            <a:avLst/>
          </a:prstGeom>
          <a:noFill/>
          <a:ln/>
        </p:spPr>
        <p:txBody>
          <a:bodyPr wrap="square" lIns="0" tIns="0" rIns="0" bIns="0" rtlCol="0" anchor="t"/>
          <a:lstStyle/>
          <a:p>
            <a:pPr indent="0" marL="0">
              <a:buNone/>
            </a:pPr>
            <a:r>
              <a:rPr lang="en-US" sz="1400" b="1" dirty="0">
                <a:solidFill>
                  <a:schemeClr val="accent1"/>
                </a:solidFill>
              </a:rPr>
              <a:t>Why the edge moves up</a:t>
            </a:r>
            <a:endParaRPr lang="en-US" sz="1400" dirty="0"/>
          </a:p>
          <a:p>
            <a:pPr indent="0" marL="0">
              <a:buNone/>
            </a:pPr>
            <a:r>
              <a:rPr lang="en-US" sz="1400" dirty="0">
                <a:solidFill>
                  <a:schemeClr val="tx1"/>
                </a:solidFill>
              </a:rPr>
              <a:t>Hit groups keep the energy that split clusters lose, so the edge rises by about 5 MeV and sharpens. This is the likely cause; it is not checked against MC.</a:t>
            </a:r>
            <a:endParaRPr lang="en-US" sz="1400" dirty="0"/>
          </a:p>
        </p:txBody>
      </p:sp>
      <p:sp>
        <p:nvSpPr>
          <p:cNvPr id="6" name="edge caveats"/>
          <p:cNvSpPr/>
          <p:nvPr/>
        </p:nvSpPr>
        <p:spPr>
          <a:xfrm>
            <a:off x="6278728" y="4206240"/>
            <a:ext cx="5364328" cy="1874520"/>
          </a:xfrm>
          <a:prstGeom prst="roundRect">
            <a:avLst>
              <a:gd name="adj" fmla="val 3902"/>
            </a:avLst>
          </a:prstGeom>
          <a:solidFill>
            <a:schemeClr val="bg2"/>
          </a:solidFill>
          <a:ln w="12700">
            <a:solidFill>
              <a:schemeClr val="bg2"/>
            </a:solidFill>
            <a:prstDash val="solid"/>
          </a:ln>
        </p:spPr>
      </p:sp>
      <p:sp>
        <p:nvSpPr>
          <p:cNvPr id="7" name="Text 4"/>
          <p:cNvSpPr txBox="1"/>
          <p:nvPr/>
        </p:nvSpPr>
        <p:spPr>
          <a:xfrm>
            <a:off x="6553048" y="4389120"/>
            <a:ext cx="4815688" cy="1554480"/>
          </a:xfrm>
          <a:prstGeom prst="rect">
            <a:avLst/>
          </a:prstGeom>
          <a:noFill/>
          <a:ln/>
        </p:spPr>
        <p:txBody>
          <a:bodyPr wrap="square" lIns="0" tIns="0" rIns="0" bIns="0" rtlCol="0" anchor="t"/>
          <a:lstStyle/>
          <a:p>
            <a:pPr indent="0" marL="0">
              <a:buNone/>
            </a:pPr>
            <a:r>
              <a:rPr lang="en-US" sz="1400" b="1" dirty="0">
                <a:solidFill>
                  <a:schemeClr val="accent1"/>
                </a:solidFill>
              </a:rPr>
              <a:t>What it can't tell us yet</a:t>
            </a:r>
            <a:endParaRPr lang="en-US" sz="1400" dirty="0"/>
          </a:p>
          <a:p>
            <a:pPr indent="0" marL="0">
              <a:buNone/>
            </a:pPr>
            <a:r>
              <a:rPr lang="en-US" sz="1400" dirty="0">
                <a:solidFill>
                  <a:schemeClr val="tx1"/>
                </a:solidFill>
              </a:rPr>
              <a:t>E₀ moves by about 0.9 MeV with the fit range. Without MC, E₀ can't be converted to an absolute electron energy scale: leakage and threshold effects are unknown.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77240"/>
          </a:xfrm>
          <a:prstGeom prst="rect">
            <a:avLst/>
          </a:prstGeom>
          <a:noFill/>
          <a:ln/>
        </p:spPr>
        <p:txBody>
          <a:bodyPr wrap="square" lIns="0" tIns="0" rIns="0" bIns="0" rtlCol="0" anchor="ctr"/>
          <a:lstStyle/>
          <a:p>
            <a:pPr indent="0" marL="0">
              <a:buNone/>
            </a:pPr>
            <a:r>
              <a:rPr lang="en-US" sz="3600" b="1" dirty="0">
                <a:solidFill>
                  <a:schemeClr val="bg1"/>
                </a:solidFill>
              </a:rPr>
              <a:t>Conclusions and next steps</a:t>
            </a:r>
            <a:endParaRPr lang="en-US" sz="3600" dirty="0"/>
          </a:p>
        </p:txBody>
      </p:sp>
      <p:sp>
        <p:nvSpPr>
          <p:cNvPr id="3" name="Text 1"/>
          <p:cNvSpPr txBox="1"/>
          <p:nvPr/>
        </p:nvSpPr>
        <p:spPr>
          <a:xfrm>
            <a:off x="548640" y="1325880"/>
            <a:ext cx="5272888"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Conclusions</a:t>
            </a:r>
            <a:endParaRPr lang="en-US" sz="2200" dirty="0"/>
          </a:p>
        </p:txBody>
      </p:sp>
      <p:sp>
        <p:nvSpPr>
          <p:cNvPr id="4" name="Text 2"/>
          <p:cNvSpPr txBox="1"/>
          <p:nvPr/>
        </p:nvSpPr>
        <p:spPr>
          <a:xfrm>
            <a:off x="548640" y="1874520"/>
            <a:ext cx="5272888" cy="4206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Reco clusters can't define a stopped muon in cosmics: tracks are split in time and by SiPM offsets</a:t>
            </a:r>
            <a:endParaRPr lang="en-US" sz="1600" dirty="0"/>
          </a:p>
          <a:p>
            <a:pPr marL="342900" indent="-342900">
              <a:spcAft>
                <a:spcPts val="1000"/>
              </a:spcAft>
              <a:buSzPct val="100000"/>
              <a:buChar char="•"/>
            </a:pPr>
            <a:r>
              <a:rPr lang="en-US" sz="1600" dirty="0">
                <a:solidFill>
                  <a:schemeClr val="bg1"/>
                </a:solidFill>
              </a:rPr>
              <a:t>With SiPM-corrected hit tracks, τ = 2.201 ± 0.015 µs, consistent with PDG; the clock scale is fine</a:t>
            </a:r>
            <a:endParaRPr lang="en-US" sz="1600" dirty="0"/>
          </a:p>
          <a:p>
            <a:pPr marL="342900" indent="-342900">
              <a:spcAft>
                <a:spcPts val="1000"/>
              </a:spcAft>
              <a:buSzPct val="100000"/>
              <a:buChar char="•"/>
            </a:pPr>
            <a:r>
              <a:rPr lang="en-US" sz="1600" dirty="0">
                <a:solidFill>
                  <a:schemeClr val="bg1"/>
                </a:solidFill>
              </a:rPr>
              <a:t>Michel edge E₀ = 44.2 ± 0.2 (±0.9 from fit range) MeV, σ = 4.3 MeV; 8.4% of decays fall below 10 MeV</a:t>
            </a:r>
            <a:endParaRPr lang="en-US" sz="1600" dirty="0"/>
          </a:p>
        </p:txBody>
      </p:sp>
      <p:sp>
        <p:nvSpPr>
          <p:cNvPr id="5" name="Text 3"/>
          <p:cNvSpPr txBox="1"/>
          <p:nvPr/>
        </p:nvSpPr>
        <p:spPr>
          <a:xfrm>
            <a:off x="6370168" y="1325880"/>
            <a:ext cx="5272888"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Next steps</a:t>
            </a:r>
            <a:endParaRPr lang="en-US" sz="2200" dirty="0"/>
          </a:p>
        </p:txBody>
      </p:sp>
      <p:sp>
        <p:nvSpPr>
          <p:cNvPr id="6" name="Text 4"/>
          <p:cNvSpPr txBox="1"/>
          <p:nvPr/>
        </p:nvSpPr>
        <p:spPr>
          <a:xfrm>
            <a:off x="6370168" y="1874520"/>
            <a:ext cx="5272888" cy="42062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Isolate which part of the first-pass prompt definition produced the 1.4 µs component</a:t>
            </a:r>
            <a:endParaRPr lang="en-US" sz="1600" dirty="0"/>
          </a:p>
          <a:p>
            <a:pPr marL="342900" indent="-342900">
              <a:spcAft>
                <a:spcPts val="1000"/>
              </a:spcAft>
              <a:buSzPct val="100000"/>
              <a:buChar char="•"/>
            </a:pPr>
            <a:r>
              <a:rPr lang="en-US" sz="1600" dirty="0">
                <a:solidFill>
                  <a:schemeClr val="bg1"/>
                </a:solidFill>
              </a:rPr>
              <a:t>Fix the per-SiPM time constants and check the clustering time window against them</a:t>
            </a:r>
            <a:endParaRPr lang="en-US" sz="1600" dirty="0"/>
          </a:p>
          <a:p>
            <a:pPr marL="342900" indent="-342900">
              <a:spcAft>
                <a:spcPts val="1000"/>
              </a:spcAft>
              <a:buSzPct val="100000"/>
              <a:buChar char="•"/>
            </a:pPr>
            <a:r>
              <a:rPr lang="en-US" sz="1600" dirty="0">
                <a:solidFill>
                  <a:schemeClr val="bg1"/>
                </a:solidFill>
              </a:rPr>
              <a:t>Follow up the edge stops (2.12 ± 0.04 µs): µ⁻ in support material?</a:t>
            </a:r>
            <a:endParaRPr lang="en-US" sz="1600" dirty="0"/>
          </a:p>
          <a:p>
            <a:pPr marL="342900" indent="-342900">
              <a:spcAft>
                <a:spcPts val="1000"/>
              </a:spcAft>
              <a:buSzPct val="100000"/>
              <a:buChar char="•"/>
            </a:pPr>
            <a:r>
              <a:rPr lang="en-US" sz="1600" dirty="0">
                <a:solidFill>
                  <a:schemeClr val="bg1"/>
                </a:solidFill>
              </a:rPr>
              <a:t>Cosmic MC through the same chain, to turn E₀ into an electron energy scale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u2e cosmics">
  <a:themeElements>
    <a:clrScheme name="Mu2e cosmics">
      <a:dk1>
        <a:srgbClr val="1F2A36"/>
      </a:dk1>
      <a:lt1>
        <a:srgbClr val="FFFFFF"/>
      </a:lt1>
      <a:dk2>
        <a:srgbClr val="4A5563"/>
      </a:dk2>
      <a:lt2>
        <a:srgbClr val="F2F4F7"/>
      </a:lt2>
      <a:accent1>
        <a:srgbClr val="C0392B"/>
      </a:accent1>
      <a:accent2>
        <a:srgbClr val="2A78D6"/>
      </a:accent2>
      <a:accent3>
        <a:srgbClr val="EB6834"/>
      </a:accent3>
      <a:accent4>
        <a:srgbClr val="5F87B0"/>
      </a:accent4>
      <a:accent5>
        <a:srgbClr val="9AA7B4"/>
      </a:accent5>
      <a:accent6>
        <a:srgbClr val="2E7D32"/>
      </a:accent6>
      <a:hlink>
        <a:srgbClr val="2A78D6"/>
      </a:hlink>
      <a:folHlink>
        <a:srgbClr val="6D2E46"/>
      </a:folHlink>
    </a:clrScheme>
    <a:fontScheme name="Mu2e cosm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Stopped cosmic muons in the calorimeter</dc:title>
  <dc:subject>PptxGenJS Presentation</dc:subject>
  <dc:creator>PptxGenJS</dc:creator>
  <cp:lastModifiedBy>PptxGenJS</cp:lastModifiedBy>
  <cp:revision>1</cp:revision>
  <dcterms:created xsi:type="dcterms:W3CDTF">2026-10-29T15:14:38Z</dcterms:created>
  <dcterms:modified xsi:type="dcterms:W3CDTF">2026-10-29T15:14:38Z</dcterms:modified>
</cp:coreProperties>
</file>